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1148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</a:defRPr>
            </a:pPr>
            <a:r>
              <a:t>⚡ NEXT-GEN CYBERCRIME FORENSIC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ABHEDYA-CHAKRA (अभैद्य चक्र)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</a:defRPr>
            </a:pPr>
            <a:r>
              <a:t>Autonomous Multi-Hop Mule Account Detection, Graph Traversal &amp; Judicial Freeze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5146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331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2,000,000+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Transactions Analyzed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931920"/>
            <a:ext cx="25146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4114800"/>
            <a:ext cx="2331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&lt; 15 ms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Graph Path Traversal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25146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114800"/>
            <a:ext cx="2331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100% Precision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L1 -&gt; L4 Layer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931920"/>
            <a:ext cx="25146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4114800"/>
            <a:ext cx="2331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A855F7"/>
                </a:solidFill>
              </a:defRPr>
            </a:pPr>
            <a:r>
              <a:t>Sec 91 / 94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Automated Statutory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VoidHacks 8.0 • 36-Hour Hackathon • Engineering Architecture &amp; Operational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Cybercrime Pandemic: Layered Syndicates &amp; Investigation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Digital Arrest &amp; Extortion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Organized syndicates intimidate victims via spoofed CBI/ED video calls, coercing immediate large RTGS/IMPS fund transfers into mule networks within 15-30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663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Multi-Hop Dispersion (L1 -&gt; L4)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Capital is split within 3 to 15 minutes into 3-6 L1 placement accounts, then layered into dozens of L2 accounts, pooled into L3 escrow, and liquidated at L4 crypto off-ramps.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1663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319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The 60-Minute Golden Hour Trap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Traditional manual police requests take 24-72 hours across diverse bank nodal officers. By the time freeze orders arrive, funds have exited the Indian banking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49039"/>
            <a:ext cx="51663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9319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Zero False-Positive Requirement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Freezing genuine merchant or payroll accounts paralyzes legitimate commerce and creates severe legal liability under Section 192 BNSS / Section 172 Cr.P.C.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Four-Tier Decoupled High-Throughput Forensic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Client Interface (UI)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React 18 + Vite SPA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Interactive Evidence Intake (CSV, PDF, Excel)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Layered SVG 4-Hop Money Trail Visualizer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Physics D3 Force Graph &amp; Network Tree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Mule Syndicate Dossier &amp; Live Drawer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Magistrate Judicial Case Diary &amp; Freeze Notice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146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2. Async API Gateway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FastAPI + Uvicorn ASGI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Streaming multipart statement ingestion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Non-blocking query endpoints under thread locks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In-memory context cache with instant invalidation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Zero-drift Integer Paise monetary representation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REST JSON API for all investigation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146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Forensic Detection Pipeline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Vectorized Analytical Engine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engine/ingest.py: Schema quarantine to rejects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engine/features.py: Set-based SQL raw metrics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engine/scoring.py: 2-Pass MP1-8 &amp; T1-7 algorithms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engine/links.py: Episode time-window matching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engine/rings.py: Min-label connected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146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4. Storage &amp; Binary CSR Cache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DuckDB + NumPy Memory Buffers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DuckDB: OLAP column-store for 2M+ rows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CSR Arrays (.npy): out_ptr, out_dst, out_amt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In-RAM direct vectors: Sub-15ms graph walks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bank_directory: Verified IFSC nodal officers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ingest_meta: Immutable SHA-256 audit ledger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 Production Technology Stack &amp;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44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Frontend Layer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React 18 / 19 &amp; Vite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Ultra-fast HMR and modular component architecture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Tailwind CSS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Warm forensic styling system (#FAF6EE / #2C2623 / #D96B27)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D3.js &amp; Canvas Force-Graph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Hardware-accelerated 2D/3D physics graph rendering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Custom Layered SVG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Precision bezier curves connecting 4 hop columns seamlessly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46304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45920"/>
            <a:ext cx="3044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Backend API Gateway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Python 3.11+ / 3.13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High-performance runtime with modern typing support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FastAPI (ASGI)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Asynchronous high-concurrency request routing and validation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Uvicorn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Lightning ASGI production web server on port 8000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PyPDF &amp; OpenPyXL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Direct forensic parsing of digital bank statement PDFs and Excels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18704" y="146304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1645920"/>
            <a:ext cx="3044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Storage &amp; Graph Engine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DuckDB OLAP Column-Store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Zero-copy vectorized SQL execution over 2M+ transactions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NumPy CSR Binary Arrays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Compressed Sparse Row arrays for zero-overhead graph traversal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SciPy Spatial &amp; Sparse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Vectorized cycle detection and connected component graph analysis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Integer Paise Math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Strict 64-bit integer arithmetic preventing IEEE float drift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7-Stage Sequential Forensic Pipeline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5912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Stage 1: Streaming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4475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Streams CSV/PDF/XLSX into DuckDB, computes SHA-256 seal, validates accounts &amp; IFSCs, isolates invalid rows in rejects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75688"/>
            <a:ext cx="10725912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Stage 2: Bank Directory Seeding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488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Maps IFSC prefixes (SBIN, HDFC, ICIC, etc.) to verified bank nodal officers and official postal headquarters.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79776"/>
            <a:ext cx="10725912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71216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Stage 3: Feature Computation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85292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Set-based SQL passes compute raw parameters: forward lag, pass-through ratio, split count, median hold time, and fan-out.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83864"/>
            <a:ext cx="10725912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75304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Stage 4: Pass 1 Scoring &amp;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557016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Computes Mule Index (MP1-8) and Trust Index (T1-7). Evaluates 7 detection gates and applies initial flag threshold.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87952"/>
            <a:ext cx="10725912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7939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Stage 5: Layer Link Provenance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261104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Links counterparties matching exact forwarding windows (3-15 min for L1, 0-60 min for L2) and calculates commission splits.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10725912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83479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Stage 6: Pass 2 Scoring &amp;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96519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Calculates neighbour risk contamination, lifts receive-only sink override, and assigns definitive roles (L1, L2, L3, VICTIM).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96128"/>
            <a:ext cx="10725912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8756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Stage 7: Ring Clustering &amp; CSR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6692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Executes min-label propagation into syndicate rings/cells, and compiles binary CSR arrays for sub-millisecond graph navigation.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Analytical Relational &amp; Binary CSR Database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tx (Transactions Table)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tx_key (BIGINT, PK): Immutable row index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tx_id (VARCHAR): Raw statement transaction ID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sender_account / receiver_account (VARCHAR)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amount_paise (BIGINT): Integer currency units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timestamp (TIMESTAMP): Explicitly formatted time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payment_mode (UPI, IMPS, NEFT, RTGS,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6636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scores (Forensic Classifications)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acct_id (INT, FK): Reference to accounts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mule_index (FLOAT): Aggregate risk 0-100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trust_index (FLOAT): Mitigating legitimacy 0-100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final_index (FLOAT): Net risk score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role: L1 | L2 | L3 | VICTIM | UNCLASSIFIED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freeze_recommended (BOOL), holding_paise (BIGINT)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6636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layer_links (Proven Provenance)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link_id (BIGINT, PK): Unique edge identifier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from_acct_id -&gt; to_acct_id (Directed transfer)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link_type: VICTIM_L1, L1_L2, L2_L3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amount_paise: Transferred money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lag_seconds: Exact measured forwarding latency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share_of_inflow: Commission ratio fraction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516636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7764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rings &amp; cells (Syndicates)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ring_id / cell_id (INT, PK): Component clusters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l1_count, l2_count, l3_count, victim_count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holding_paise: Total frozen capital remaining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pattern_tags: SCATTER_GATHER, FUNNEL, CYCLE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fingerprint_sha256: Immutable cluster hash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• out_ptr / in_ptr: CSR binary graph pointers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LAYER CLASSIFICATION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Multi-Hop Forensic Syndicate Topology: Hop 1 to Hop 4 Terminal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Hop 1: L1 Mule Collector (Placement)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Direct victim funds receiver. Burst window: 3-15 min. Rapidly splits 97-99% of inflows across 3-6 downstream accounts.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Hop 2: L2 Mule Distributor (Layering)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Transit conduit. Burst window: 0-60 min. Passes 94-97% of capital in 1-to-1 forward transfers to prevent aggregation triggers.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Hop 3: L3 Mule Escrow (Accumulation)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Convergence sink. Consolidates split streams from multiple L2 distributors into major holding pools before exit.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512064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Hop 4: L4 Terminal Exit (Off-Ramp)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Final liquidation point. Offshore Binance P2P crypto sweeps, Dubai hawala desks, or multi-ATM cash-out terminal sinks.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edia_1790956010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212080" cy="25347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26480" y="57607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Figure 1: Live Abhedya-Chakra 4-Hop Money Trail Canvas (Digital Arrest Case Trace)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ALGORITHMIC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Mathematical Weighting, Behavioral Gates &amp; Two-Signal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</a:defRPr>
            </a:pPr>
            <a:r>
              <a:t>Mule Parameters (Risk Factors)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MP1: Rapid Forwarding Ratio (20%) — Transfers out within active time-window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MP2: High Volume Pass-Through (15%) — Passes &gt; 90% of received money onwards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MP3: Low Inflow-Outflow Hold Time (15%) — Median holding time under 1 hour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MP4: High Fan-Out Degree (15%) — 1 inflow dispersed to 3-6 recipients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MP5: Multi-Beneficiary Velocity (10%) — Sudden burst volume vs historical baseline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MP6: Low Reciprocity Flow (10%) — Zero counterparty return transfers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MP7: Upstream Mule Risk (10%) — Contamination from confirmed upstream mules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MP8: High Churn / Low Idle Balance (5%) — Leaves zero balance in account overnight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Trust Parameters &amp; Safeguard Gates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T1: Account Age &amp; Longevity (44%) — Established accounts transacting legitimately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T4: Commercial Payroll Pattern (19%) — Standard business distributions and salaries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T5: Counterparty Health Score (32%) — Transacts with verified, low-risk KYC entities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T7: Working Capital Retention (5%) — Maintains healthy continuous operating float</a:t>
            </a:r>
          </a:p>
          <a:p>
            <a:pPr>
              <a:spcBef>
                <a:spcPts val="1000"/>
              </a:spcBef>
              <a:defRPr sz="1200" b="1">
                <a:solidFill>
                  <a:srgbClr val="10B981"/>
                </a:solidFill>
              </a:defRPr>
            </a:pPr>
            <a:r>
              <a:t>Deterministic Safeguard Safeguards: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✔ Final Index &gt;= 65: Mandatory threshold for mule flagging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✔ Two-Signal Rule: Must trigger &gt;= 2 mule parameters at half-points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✔ Sink Override: Floor 70 for proven receive-only L3/L4 terminal sinks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✔ 7 Closed Gates: Empirical zero-entropy indicators filtered 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GRAPH TRAVERSAL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Compressed Sparse Row (CSR) Zero-Copy In-Memory Graph Walk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Why Compressed Sparse Row (CSR)?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Sub-15ms Traversal on 2M Rows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Relational SQL joins over millions of recursive hops take seconds. CSR arrays execute direct memory lookups in microseconds.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Zero Windows Memory Locking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Direct in-RAM array loading without mmap handles prevents OS file locking (WinError 87 / Errno 22) during live data re-indexing.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out_ptr / out_dst Pointers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Slice for account A is out_ptr[A] to out_ptr[A+1]. Outgoing edges are contiguous in memory, eliminating cache misses.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Binary Search Time-Windows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Transfers are pre-sorted chronologically by ts_sec. Finding in-window transactions takes O(log K) binary search time.</a:t>
            </a:r>
          </a:p>
          <a:p>
            <a:pPr>
              <a:spcBef>
                <a:spcPts val="600"/>
              </a:spcBef>
              <a:defRPr sz="1100" b="1">
                <a:solidFill>
                  <a:srgbClr val="F97316"/>
                </a:solidFill>
              </a:defRPr>
            </a:pPr>
            <a:r>
              <a:t>Memory Footprint: Only 112 MB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The entire 2,000,000 transaction graph across both outgoing and incoming directions fits in 112 MB of system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0927456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212080" cy="245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57607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Figure 2: Real-time D3 Force Graph &amp; Network Topology Visualizer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EVIDENCE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Universal Intake Studio: Multi-Format Parsing &amp; Parameter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</a:defRPr>
            </a:pPr>
            <a:r>
              <a:t>Multi-Format Evidentiary Ingestion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Universal Format Support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Seamlessly ingests CSV transaction ledgers, digital PDF bank statements via pypdf, Excel sheets (.xlsx, .xls), and Parquet dumps.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Strict Integrity &amp; Zero Alteration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Never alters evidence: account strings remain unchanged, dates parsed explicitly, and bad rows are quarantined in rejects.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Live Timing &amp; Throughput Metrics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Instantly measures upload latency, DuckDB ingestion time, pipeline stage breakdown, and throughput (193,000+ rows/sec).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Dynamic Indian Bank IFSC Resolution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Resolves bank codes (SBIN, HDFC, ICIC, KKBK, etc.), generates compliant IFSC fallbacks, and registers unknown prefixes on-the-fly.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dia_17909409699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212080" cy="26162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57607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97316"/>
                </a:solidFill>
              </a:defRPr>
            </a:pPr>
            <a:r>
              <a:t>Figure 3: Live Case Ingestion &amp; Multi-Hop Account Trace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STATUTORY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Automated Judicial Artifacts: Section 91 Notices &amp; Section 172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Section 91 Cr.P.C. / 94 BNSS Legal Requisitions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Automated Debit-Freeze Orders generated per bank entity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Directly addressed to verified Bank Nodal Officers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Includes originating victim FIR details and transaction references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Cites exact account numbers, timestamps, and freeze holding amounts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Prevents syndicate cash-out within the 60-minute golden hour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663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Section 172 Cr.P.C. / 192 BNSS Judicial Case Diary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Chronological investigation diary ready for Magistrate review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4-Column topology metrics: Hop 1 -&gt; Hop 2 -&gt; Hop 3 -&gt; Hop 4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Complete evidentiary chain from victim FIR to terminal crypto sink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Immutable SHA-256 seal guaranteeing chain-of-custody integrity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Section 65B Indian Evidence Act compliant digital proof certificate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SUMMARY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Production Benchmarks, Mathematical Rigor &amp; Hackathon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2,000,000 Records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Loaded in 10.3s (193k rows/sec)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DuckDB columnar vector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146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100% Precision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1,073 Mules Identified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Zero false positives on clean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146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112 MB RAM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CSR Graph Memory Buffer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Fast in-memory graph walk without locks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146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&lt; 15 ms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Hop 1-4 End-to-End Trace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Real-time money trail path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725912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101772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Operational Significance for Law Enforcement Agencies (LEAs):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✔ Replaces 72-hour manual investigation loops with autonomous 15-millisecond syndicate path extraction.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✔ Proves exact multi-hop fund lineage across 4 distinct syndication layers, terminating at offshore crypto terminals.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✔ Generates legally binding Section 91 Cr.P.C. / Section 94 BNSS debit-freeze notices ready for instant dispatch.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✔ Guarantees judicial admissibility with Section 172 Cr.P.C. Case Diaries sealed with SHA-256 cryptographic proofs.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